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2" r:id="rId12"/>
    <p:sldId id="281" r:id="rId13"/>
    <p:sldId id="282" r:id="rId14"/>
    <p:sldId id="274" r:id="rId15"/>
    <p:sldId id="275" r:id="rId16"/>
    <p:sldId id="276" r:id="rId17"/>
    <p:sldId id="277" r:id="rId18"/>
    <p:sldId id="278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MumXhTWin+vGX2kI6Uwqi82Kb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BD2CB4-26CA-4F4F-A53B-DA8CFD52CA72}">
  <a:tblStyle styleId="{ABBD2CB4-26CA-4F4F-A53B-DA8CFD52CA7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32620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990600" y="68580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3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AUTONOMOUS)</a:t>
            </a:r>
            <a:b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Affiliated to JNTUH, Approved by AICTE, Accredited by NAAC with A++ Grade, ISO 9001:2015 Certified </a:t>
            </a:r>
            <a:b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Kacharam, Shamshabad, Hyderabad – 501218, Telangana, India</a:t>
            </a:r>
            <a:br>
              <a:rPr lang="en-US" sz="13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AND ENGINEERING</a:t>
            </a:r>
            <a:b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sz="3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3300" b="1" i="0" u="sng" strike="noStrike" cap="none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Guide Details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Dr S V Vasantha</a:t>
            </a:r>
            <a:endParaRPr sz="3000" b="1" i="0" u="none" strike="noStrike" cap="none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spcBef>
                <a:spcPts val="341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Associate Professor </a:t>
            </a:r>
            <a:endParaRPr sz="2200" b="1" i="0" u="none" strike="noStrike" cap="none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spcBef>
                <a:spcPts val="341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Department of CSE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2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i="0" u="none" strike="noStrike" cap="none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743200" y="2438400"/>
            <a:ext cx="3657600" cy="4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BATCH ID : 22PWCS-B01</a:t>
            </a:r>
            <a:endParaRPr sz="2400" b="1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04800" y="1752600"/>
            <a:ext cx="8610600" cy="6096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Title: </a:t>
            </a:r>
            <a:r>
              <a:rPr lang="en-US" sz="2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Electric Vehicle Sentiment Analysis using LLMs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3" name="Google Shape;93;p1"/>
          <p:cNvGraphicFramePr/>
          <p:nvPr>
            <p:extLst>
              <p:ext uri="{D42A27DB-BD31-4B8C-83A1-F6EECF244321}">
                <p14:modId xmlns:p14="http://schemas.microsoft.com/office/powerpoint/2010/main" val="189525136"/>
              </p:ext>
            </p:extLst>
          </p:nvPr>
        </p:nvGraphicFramePr>
        <p:xfrm>
          <a:off x="1219200" y="2971800"/>
          <a:ext cx="6934225" cy="1585000"/>
        </p:xfrm>
        <a:graphic>
          <a:graphicData uri="http://schemas.openxmlformats.org/drawingml/2006/table">
            <a:tbl>
              <a:tblPr firstRow="1" bandRow="1">
                <a:noFill/>
                <a:tableStyleId>{ABBD2CB4-26CA-4F4F-A53B-DA8CFD52CA72}</a:tableStyleId>
              </a:tblPr>
              <a:tblGrid>
                <a:gridCol w="78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S. No</a:t>
                      </a:r>
                      <a:endParaRPr sz="20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Roll. No</a:t>
                      </a:r>
                      <a:endParaRPr sz="20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Student Name</a:t>
                      </a:r>
                      <a:endParaRPr sz="20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24885A0524</a:t>
                      </a:r>
                      <a:endParaRPr sz="2000" b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262626"/>
                          </a:solidFill>
                        </a:rPr>
                        <a:t>Gattumidi</a:t>
                      </a:r>
                      <a:r>
                        <a:rPr lang="en-US" sz="2000" b="1" dirty="0">
                          <a:solidFill>
                            <a:srgbClr val="262626"/>
                          </a:solidFill>
                        </a:rPr>
                        <a:t> Yogitha</a:t>
                      </a:r>
                      <a:endParaRPr lang="en-US" sz="2000" b="1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23881A05Q0</a:t>
                      </a:r>
                      <a:endParaRPr sz="2000" b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Salandri</a:t>
                      </a:r>
                      <a:r>
                        <a:rPr lang="en-US" sz="20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Rishikesh Yadav</a:t>
                      </a:r>
                      <a:endParaRPr sz="2000" b="1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23881A05K7</a:t>
                      </a:r>
                      <a:endParaRPr sz="2000" b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262626"/>
                          </a:solidFill>
                        </a:rPr>
                        <a:t>Balthu</a:t>
                      </a:r>
                      <a:r>
                        <a:rPr lang="en-US" sz="2000" b="1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262626"/>
                          </a:solidFill>
                        </a:rPr>
                        <a:t>Vikshith</a:t>
                      </a:r>
                      <a:endParaRPr lang="en-US" sz="2000" b="1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228600"/>
            <a:ext cx="9906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Project Work Phase-II Review-I Outlines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228600" y="1014413"/>
            <a:ext cx="8763000" cy="56149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idea of the Project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System Vs Proposed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Project Objectives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Project Outcomes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and Hardware Requirements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Model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Phase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Architectural Diagram [Modified]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[UML Diagrams or Data Flow Diagrams] and ER-Diagrams ; It should be detailed diagrams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Method s and Algorithms [ With example]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Cases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Analysis [ It should be Table format comparing Existing and Proposed Method Outputs with Graphs]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Screens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400" dirty="0"/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of Paper Publication</a:t>
            </a:r>
            <a:endParaRPr dirty="0"/>
          </a:p>
          <a:p>
            <a:pPr marL="342900" lvl="0" indent="-2667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  <a:p>
            <a:pPr marL="342900" lvl="0" indent="-2667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  <a:p>
            <a:pPr marL="342900" lvl="0" indent="-2667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  <a:p>
            <a:pPr marL="342900" lvl="0" indent="-2667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2895600" y="6356350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Main idea of the Project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68510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/>
              <a:t> Main Idea of the Project-</a:t>
            </a:r>
            <a:endParaRPr sz="2400" b="1" dirty="0"/>
          </a:p>
          <a:p>
            <a:pPr marL="342900">
              <a:spcAft>
                <a:spcPts val="1000"/>
              </a:spcAft>
              <a:buSzPct val="100000"/>
            </a:pPr>
            <a:r>
              <a:rPr lang="en-US" sz="1800" dirty="0">
                <a:solidFill>
                  <a:srgbClr val="262626"/>
                </a:solidFill>
              </a:rPr>
              <a:t>Brain tumors are among the most severe neurological diseases and a major cause of cancer-related deaths; MRI is the preferred imaging modality for diagnosis.</a:t>
            </a:r>
            <a:endParaRPr lang="en-US" sz="1800" dirty="0"/>
          </a:p>
          <a:p>
            <a:pPr marL="342900">
              <a:spcAft>
                <a:spcPts val="1000"/>
              </a:spcAft>
              <a:buSzPct val="100000"/>
            </a:pPr>
            <a:r>
              <a:rPr lang="en-US" sz="1800" dirty="0">
                <a:solidFill>
                  <a:srgbClr val="262626"/>
                </a:solidFill>
              </a:rPr>
              <a:t>Manual interpretation of MRI scans is time-consuming, </a:t>
            </a:r>
            <a:r>
              <a:rPr lang="en-US" sz="1800" dirty="0" err="1">
                <a:solidFill>
                  <a:srgbClr val="262626"/>
                </a:solidFill>
              </a:rPr>
              <a:t>labour-intensive</a:t>
            </a:r>
            <a:r>
              <a:rPr lang="en-US" sz="1800" dirty="0">
                <a:solidFill>
                  <a:srgbClr val="262626"/>
                </a:solidFill>
              </a:rPr>
              <a:t>, and highly dependent on radiologist skill.</a:t>
            </a:r>
            <a:endParaRPr lang="en-US" sz="1800" dirty="0"/>
          </a:p>
          <a:p>
            <a:pPr marL="342900">
              <a:spcAft>
                <a:spcPts val="1000"/>
              </a:spcAft>
              <a:buSzPct val="100000"/>
            </a:pPr>
            <a:r>
              <a:rPr lang="en-US" sz="1800" dirty="0">
                <a:solidFill>
                  <a:srgbClr val="262626"/>
                </a:solidFill>
              </a:rPr>
              <a:t>This project proposes a hybrid deep learning framework combining </a:t>
            </a:r>
            <a:r>
              <a:rPr lang="en-US" sz="1800" dirty="0" err="1">
                <a:solidFill>
                  <a:srgbClr val="262626"/>
                </a:solidFill>
              </a:rPr>
              <a:t>ConvNeXt</a:t>
            </a:r>
            <a:r>
              <a:rPr lang="en-US" sz="1800" dirty="0">
                <a:solidFill>
                  <a:srgbClr val="262626"/>
                </a:solidFill>
              </a:rPr>
              <a:t>-Base, EfficientNetB4 and a CBAM attention module for automated brain tumor classification.</a:t>
            </a:r>
            <a:endParaRPr lang="en-US" sz="1800" dirty="0"/>
          </a:p>
          <a:p>
            <a:pPr marL="342900">
              <a:spcAft>
                <a:spcPts val="1000"/>
              </a:spcAft>
              <a:buSzPct val="100000"/>
            </a:pPr>
            <a:r>
              <a:rPr lang="en-US" sz="1800" dirty="0">
                <a:solidFill>
                  <a:srgbClr val="262626"/>
                </a:solidFill>
              </a:rPr>
              <a:t>MRI images are classified into four categories: Glioma, Meningioma, Pituitary Tumor, and No Tumor.</a:t>
            </a:r>
            <a:endParaRPr lang="en-US" sz="1800" dirty="0"/>
          </a:p>
          <a:p>
            <a:pPr marL="342900">
              <a:spcAft>
                <a:spcPts val="1000"/>
              </a:spcAft>
              <a:buSzPct val="100000"/>
            </a:pPr>
            <a:r>
              <a:rPr lang="en-US" sz="1800" dirty="0">
                <a:solidFill>
                  <a:srgbClr val="262626"/>
                </a:solidFill>
              </a:rPr>
              <a:t>Goal: build an accurate, generalizable computer-aided diagnostic (CAD) tool to support clinical decision-making.</a:t>
            </a:r>
            <a:endParaRPr lang="en-US" sz="1800" dirty="0"/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/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sz="1800" dirty="0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>
            <a:spLocks noGrp="1"/>
          </p:cNvSpPr>
          <p:nvPr>
            <p:ph type="ftr" idx="11"/>
          </p:nvPr>
        </p:nvSpPr>
        <p:spPr>
          <a:xfrm>
            <a:off x="2438400" y="6311900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Existing System Vs Proposed 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6667"/>
              <a:buNone/>
            </a:pPr>
            <a:r>
              <a:rPr lang="en-US" sz="2400" b="1" dirty="0"/>
              <a:t>Existing System</a:t>
            </a:r>
            <a:endParaRPr sz="2400" b="1" dirty="0"/>
          </a:p>
          <a:p>
            <a:pPr marL="342900">
              <a:spcAft>
                <a:spcPts val="600"/>
              </a:spcAft>
              <a:buSzPct val="100000"/>
            </a:pPr>
            <a:r>
              <a:rPr lang="en-US" sz="2400" dirty="0">
                <a:solidFill>
                  <a:srgbClr val="262626"/>
                </a:solidFill>
              </a:rPr>
              <a:t>Uses single-backbone deep learning models:</a:t>
            </a:r>
            <a:endParaRPr lang="en-US" sz="2400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 err="1">
                <a:solidFill>
                  <a:srgbClr val="262626"/>
                </a:solidFill>
              </a:rPr>
              <a:t>ResNet</a:t>
            </a:r>
            <a:r>
              <a:rPr lang="en-US" sz="2400" dirty="0">
                <a:solidFill>
                  <a:srgbClr val="262626"/>
                </a:solidFill>
              </a:rPr>
              <a:t>, VGG16, </a:t>
            </a:r>
            <a:r>
              <a:rPr lang="en-US" sz="2400" dirty="0" err="1">
                <a:solidFill>
                  <a:srgbClr val="262626"/>
                </a:solidFill>
              </a:rPr>
              <a:t>EfficientNet</a:t>
            </a:r>
            <a:r>
              <a:rPr lang="en-US" sz="2400" dirty="0">
                <a:solidFill>
                  <a:srgbClr val="262626"/>
                </a:solidFill>
              </a:rPr>
              <a:t>, Vision Transformer, </a:t>
            </a:r>
            <a:r>
              <a:rPr lang="en-US" sz="2400" dirty="0" err="1">
                <a:solidFill>
                  <a:srgbClr val="262626"/>
                </a:solidFill>
              </a:rPr>
              <a:t>ConvNeXt</a:t>
            </a:r>
            <a:endParaRPr lang="en-US" sz="2400" dirty="0"/>
          </a:p>
          <a:p>
            <a:pPr marL="457200" lvl="0" indent="-346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2400" dirty="0"/>
              <a:t>Limitations:</a:t>
            </a:r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No feature fusion or attention mechanism</a:t>
            </a:r>
            <a:endParaRPr sz="2400" b="1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High computational cost, dataset-sensitive</a:t>
            </a:r>
            <a:endParaRPr sz="2400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Miss either global context or fine local detail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 b="1" dirty="0"/>
              <a:t>Proposed System</a:t>
            </a:r>
            <a:endParaRPr sz="2400" b="1" dirty="0"/>
          </a:p>
          <a:p>
            <a:pPr indent="-346710">
              <a:lnSpc>
                <a:spcPct val="115000"/>
              </a:lnSpc>
              <a:spcBef>
                <a:spcPts val="1200"/>
              </a:spcBef>
              <a:buSzPct val="100000"/>
              <a:buFont typeface="Arial"/>
              <a:buChar char="●"/>
            </a:pPr>
            <a:r>
              <a:rPr lang="en-US" sz="2400" dirty="0">
                <a:solidFill>
                  <a:srgbClr val="262626"/>
                </a:solidFill>
              </a:rPr>
              <a:t>Dual-branch architecture: </a:t>
            </a:r>
            <a:r>
              <a:rPr lang="en-US" sz="2400" dirty="0" err="1">
                <a:solidFill>
                  <a:srgbClr val="262626"/>
                </a:solidFill>
              </a:rPr>
              <a:t>ConvNeXt</a:t>
            </a:r>
            <a:r>
              <a:rPr lang="en-US" sz="2400" dirty="0">
                <a:solidFill>
                  <a:srgbClr val="262626"/>
                </a:solidFill>
              </a:rPr>
              <a:t>-Base + EfficientNetB4</a:t>
            </a:r>
            <a:endParaRPr lang="en-US" sz="2400" dirty="0"/>
          </a:p>
          <a:p>
            <a:pPr marL="457200" lvl="0" indent="-34671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endParaRPr sz="2400" b="1" dirty="0"/>
          </a:p>
          <a:p>
            <a:pPr marL="457200" lvl="0" indent="-346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2400" dirty="0"/>
              <a:t>Features:</a:t>
            </a:r>
            <a:endParaRPr sz="2400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Captures global structure + fine-grained tumor detail</a:t>
            </a:r>
            <a:endParaRPr sz="2400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CBAM channel + spatial attention for informative regions</a:t>
            </a:r>
            <a:endParaRPr sz="2400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Feature fusion for a comprehensive representation</a:t>
            </a:r>
            <a:endParaRPr sz="2400" dirty="0"/>
          </a:p>
          <a:p>
            <a:pPr lvl="1" indent="-346710">
              <a:lnSpc>
                <a:spcPct val="115000"/>
              </a:lnSpc>
              <a:spcBef>
                <a:spcPts val="0"/>
              </a:spcBef>
              <a:buSzPct val="100000"/>
              <a:buFont typeface="Calibri"/>
              <a:buChar char="○"/>
            </a:pPr>
            <a:r>
              <a:rPr lang="en-US" sz="2400" dirty="0">
                <a:solidFill>
                  <a:srgbClr val="262626"/>
                </a:solidFill>
              </a:rPr>
              <a:t>99.75% validation accuracy, 95.58% test accuracy</a:t>
            </a:r>
            <a:endParaRPr sz="2400" dirty="0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6667"/>
              <a:buNone/>
            </a:pPr>
            <a:endParaRPr sz="2400" dirty="0"/>
          </a:p>
        </p:txBody>
      </p:sp>
      <p:sp>
        <p:nvSpPr>
          <p:cNvPr id="120" name="Google Shape;1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Proposed Project Objectives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841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Proposed Project Objectives</a:t>
            </a:r>
            <a:endParaRPr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 dual-branch deep learning architecture combining </a:t>
            </a:r>
            <a:r>
              <a:rPr lang="en-US" sz="22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ConvNeXt</a:t>
            </a: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 and EfficientNetB4 for brain tumor classification.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integrate a CBAM (channel + spatial) attention mechanism to improve feature representation.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classify MRI images into four categories: Glioma, Meningioma, Pituitary Tumor, No Tumor.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the model on validation and independent test sets and benchmark against existing architectures.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a reliable, generalizable computer-aided diagnostic (CAD) tool for clinical decision support.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84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>
            <a:spLocks noGrp="1"/>
          </p:cNvSpPr>
          <p:nvPr>
            <p:ph type="ftr" idx="11"/>
          </p:nvPr>
        </p:nvSpPr>
        <p:spPr>
          <a:xfrm>
            <a:off x="2743200" y="6336190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Proposed Project Outcomes</a:t>
            </a:r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0320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Proposed Project Outcomes</a:t>
            </a:r>
            <a:endParaRPr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High-accuracy multi-class brain tumor classification — 99.75% validation accuracy, 95.58% accuracy on an independent test set.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Precision, Recall and F1-score (99.75%) across all four tumor classes.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feature representation through global + local feature fusion with attention refinement.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Benchmarked performance against ResNet50, VGG16, EfficientNetB4, Vision Transformer, U-Net and </a:t>
            </a:r>
            <a:r>
              <a:rPr lang="en-US" sz="22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ConvNeXt+CBAM</a:t>
            </a: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generalizable CAD tool to assist radiologists in faster, more consistent tumor detection.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39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>
            <a:spLocks noGrp="1"/>
          </p:cNvSpPr>
          <p:nvPr>
            <p:ph type="ftr" idx="11"/>
          </p:nvPr>
        </p:nvSpPr>
        <p:spPr>
          <a:xfrm>
            <a:off x="2667000" y="633145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Software and Hardware Requirements</a:t>
            </a:r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320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6667"/>
              <a:buNone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Software and Hardware Requirements</a:t>
            </a:r>
            <a:endParaRPr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Software</a:t>
            </a:r>
            <a:endParaRPr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>
              <a:spcAft>
                <a:spcPts val="600"/>
              </a:spcAft>
              <a:buSzPct val="100000"/>
            </a:pP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600"/>
              </a:spcAft>
              <a:buSzPct val="100000"/>
            </a:pP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framework (</a:t>
            </a:r>
            <a:r>
              <a:rPr lang="en-US" sz="28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TensorFlow-</a:t>
            </a:r>
            <a:r>
              <a:rPr lang="en-US" sz="28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600"/>
              </a:spcAft>
              <a:buSzPct val="100000"/>
            </a:pP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processing: OpenCV / Pillow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600"/>
              </a:spcAft>
              <a:buSzPct val="100000"/>
            </a:pP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NumPy, scikit-learn (evaluation metrics)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>
              <a:spcAft>
                <a:spcPts val="600"/>
              </a:spcAft>
              <a:buSzPct val="100000"/>
            </a:pPr>
            <a:r>
              <a:rPr lang="en-US" sz="2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/ Seaborn (visualization)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Hardware</a:t>
            </a:r>
            <a:endParaRPr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System with: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Minimum 16GB RAM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1" indent="-361950">
              <a:lnSpc>
                <a:spcPct val="115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 (recommended for training </a:t>
            </a:r>
            <a:r>
              <a:rPr lang="en-US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ConvNeXt</a:t>
            </a:r>
            <a:r>
              <a:rPr lang="en-US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 / EfficientNetB4 backbones)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1" indent="-361950">
              <a:lnSpc>
                <a:spcPct val="115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Sufficient storage for the MRI dataset (7,000+ images)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139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Google Shape;147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>
            <a:spLocks noGrp="1"/>
          </p:cNvSpPr>
          <p:nvPr>
            <p:ph type="ftr" idx="11"/>
          </p:nvPr>
        </p:nvSpPr>
        <p:spPr>
          <a:xfrm>
            <a:off x="2557273" y="636844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 Model</a:t>
            </a:r>
            <a:endParaRPr/>
          </a:p>
        </p:txBody>
      </p:sp>
      <p:sp>
        <p:nvSpPr>
          <p:cNvPr id="155" name="Google Shape;155;p8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 Model</a:t>
            </a:r>
            <a:endParaRPr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 Collection (Social Media APIs)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indent="-419100">
              <a:lnSpc>
                <a:spcPct val="115000"/>
              </a:lnSpc>
              <a:spcBef>
                <a:spcPts val="0"/>
              </a:spcBef>
              <a:buSzPts val="3000"/>
              <a:buFont typeface="Arial"/>
              <a:buChar char="●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 Preprocessing</a:t>
            </a:r>
            <a:r>
              <a:rPr lang="en-US" sz="24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resizing, pixel normalization, train / validation / test split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indent="-419100">
              <a:lnSpc>
                <a:spcPct val="115000"/>
              </a:lnSpc>
              <a:spcBef>
                <a:spcPts val="0"/>
              </a:spcBef>
              <a:buSzPts val="3000"/>
              <a:buFont typeface="Arial"/>
              <a:buChar char="●"/>
            </a:pPr>
            <a:r>
              <a:rPr lang="en-US" sz="24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Dual-Branch Feature Extraction — </a:t>
            </a:r>
            <a:r>
              <a:rPr lang="en-US" sz="24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ConvNeXt</a:t>
            </a:r>
            <a:r>
              <a:rPr lang="en-US" sz="24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 (global) + EfficientNetB4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indent="-419100">
              <a:lnSpc>
                <a:spcPct val="115000"/>
              </a:lnSpc>
              <a:spcBef>
                <a:spcPts val="0"/>
              </a:spcBef>
              <a:buSzPts val="3000"/>
              <a:buFont typeface="Arial"/>
              <a:buChar char="●"/>
            </a:pPr>
            <a:r>
              <a:rPr lang="en-US" sz="24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CBAM Attention Refinement — channel and spatial attention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indent="-419100">
              <a:lnSpc>
                <a:spcPct val="115000"/>
              </a:lnSpc>
              <a:spcBef>
                <a:spcPts val="0"/>
              </a:spcBef>
              <a:buSzPts val="3000"/>
              <a:buFont typeface="Arial"/>
              <a:buChar char="●"/>
            </a:pPr>
            <a:r>
              <a:rPr lang="en-US" sz="24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Fusion &amp; Classification — concatenation, dense layers, </a:t>
            </a:r>
            <a:r>
              <a:rPr lang="en-US" sz="24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19100">
              <a:lnSpc>
                <a:spcPct val="115000"/>
              </a:lnSpc>
              <a:spcBef>
                <a:spcPts val="0"/>
              </a:spcBef>
              <a:buSzPts val="3000"/>
              <a:buFont typeface="Arial"/>
              <a:buChar char="●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&amp; Evaluation — Adam optimizer, categorical cross-entropy loss, accuracy/precision/recall/F1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>
            <a:spLocks noGrp="1"/>
          </p:cNvSpPr>
          <p:nvPr>
            <p:ph type="ftr" idx="11"/>
          </p:nvPr>
        </p:nvSpPr>
        <p:spPr>
          <a:xfrm>
            <a:off x="2895600" y="6356350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Architectural Diagram</a:t>
            </a:r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body" idx="1"/>
          </p:nvPr>
        </p:nvSpPr>
        <p:spPr>
          <a:xfrm>
            <a:off x="228600" y="1076227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Architectural Diagram 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Google Shape;16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>
            <a:spLocks noGrp="1"/>
          </p:cNvSpPr>
          <p:nvPr>
            <p:ph type="ftr" idx="11"/>
          </p:nvPr>
        </p:nvSpPr>
        <p:spPr>
          <a:xfrm>
            <a:off x="2895600" y="6356350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  <p:pic>
        <p:nvPicPr>
          <p:cNvPr id="2" name="Image 0" descr="docm_unpack/word/media/image1.png">
            <a:extLst>
              <a:ext uri="{FF2B5EF4-FFF2-40B4-BE49-F238E27FC236}">
                <a16:creationId xmlns:a16="http://schemas.microsoft.com/office/drawing/2014/main" id="{23BD8D6B-227C-036D-2877-2DBEC98ADD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83080" y="154051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PROPOSED METHOD AND ALGORITHMS</a:t>
            </a:r>
            <a:endParaRPr sz="3200" b="1">
              <a:solidFill>
                <a:srgbClr val="C00000"/>
              </a:solidFill>
            </a:endParaRPr>
          </a:p>
        </p:txBody>
      </p:sp>
      <p:sp>
        <p:nvSpPr>
          <p:cNvPr id="218" name="Google Shape;218;p15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342900" lvl="0" indent="-1651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</p:txBody>
      </p:sp>
      <p:sp>
        <p:nvSpPr>
          <p:cNvPr id="219" name="Google Shape;21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0" name="Google Shape;22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5"/>
          <p:cNvSpPr txBox="1">
            <a:spLocks noGrp="1"/>
          </p:cNvSpPr>
          <p:nvPr>
            <p:ph type="ftr" idx="11"/>
          </p:nvPr>
        </p:nvSpPr>
        <p:spPr>
          <a:xfrm>
            <a:off x="2362200" y="640238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b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600" b="1" dirty="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Table format comparing Existing and Proposed Method Outputs with Graphs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600" b="1" dirty="0">
              <a:solidFill>
                <a:srgbClr val="C00000"/>
              </a:solidFill>
            </a:endParaRPr>
          </a:p>
        </p:txBody>
      </p:sp>
      <p:sp>
        <p:nvSpPr>
          <p:cNvPr id="236" name="Google Shape;236;p17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342900" lvl="0" indent="-1651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</p:txBody>
      </p:sp>
      <p:sp>
        <p:nvSpPr>
          <p:cNvPr id="237" name="Google Shape;23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 txBox="1">
            <a:spLocks noGrp="1"/>
          </p:cNvSpPr>
          <p:nvPr>
            <p:ph type="ftr" idx="11"/>
          </p:nvPr>
        </p:nvSpPr>
        <p:spPr>
          <a:xfrm>
            <a:off x="2590801" y="6366764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 PROJECT WORK PHASE-II FINAL REVIEW</a:t>
            </a:r>
            <a:endParaRPr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9B6F2FF6-9926-ABE6-2C94-748FE88E7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177630"/>
              </p:ext>
            </p:extLst>
          </p:nvPr>
        </p:nvGraphicFramePr>
        <p:xfrm>
          <a:off x="405352" y="1253764"/>
          <a:ext cx="8436992" cy="49641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9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11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VGG16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ResNet50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EfficientNetB4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ConvNeXt-Base + CBAM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Proposed model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Backbone(s)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 (VGG16)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 (ResNet50)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 (EfficientNetB4)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 (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 (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ConvNeXt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Dual-branch (ConvNeXt-Base + EfficientNetB4)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Attention mechanism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Self-attention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CBAM (channel + spatial)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CBAM (channel + spatial)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 fusion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Validation accuracy (%)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90.1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94.3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95.1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99.8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F1-score (%)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87.5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92.5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93.5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99.8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Independent test accuracy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95.2%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97.4%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98.8%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98.2%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95.58%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Generalization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Good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Excellent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Outstanding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Google Shape;235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151914" cy="1143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b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600" b="1" dirty="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Table format comparing Existing and Proposed Method Outputs with Graphs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600" b="1" dirty="0">
              <a:solidFill>
                <a:srgbClr val="C00000"/>
              </a:solidFill>
            </a:endParaRPr>
          </a:p>
        </p:txBody>
      </p:sp>
      <p:pic>
        <p:nvPicPr>
          <p:cNvPr id="6" name="Google Shape;23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6200" y="424543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3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66180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r>
              <a:rPr lang="en-US" sz="1100" i="1" dirty="0">
                <a:ea typeface="Calibri" pitchFamily="34" charset="-122"/>
                <a:cs typeface="Calibri" pitchFamily="34" charset="-120"/>
              </a:rPr>
              <a:t>         	Fig. 1 — Accuracy curve over 20 epochs		   Fig. 2 — Normalized confusion matrix, test set</a:t>
            </a: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                                                                                                </a:t>
            </a:r>
          </a:p>
          <a:p>
            <a:pPr marL="114300" indent="0">
              <a:buNone/>
            </a:pPr>
            <a:endParaRPr lang="en-US" sz="1100" dirty="0"/>
          </a:p>
          <a:p>
            <a:pPr marL="114300" lvl="0" indent="0">
              <a:buNone/>
            </a:pPr>
            <a:r>
              <a:rPr lang="en-US" sz="1100" dirty="0"/>
              <a:t>                                                                DEPARTMENT OF CSE PROJECT WORK PHASE-II FINAL REVIEW</a:t>
            </a:r>
          </a:p>
          <a:p>
            <a:pPr marL="114300" indent="0">
              <a:buNone/>
            </a:pPr>
            <a:endParaRPr lang="en-US" sz="1100" dirty="0"/>
          </a:p>
        </p:txBody>
      </p:sp>
      <p:pic>
        <p:nvPicPr>
          <p:cNvPr id="3" name="Image 0" descr="docm_unpack/word/media/image2.png">
            <a:extLst>
              <a:ext uri="{FF2B5EF4-FFF2-40B4-BE49-F238E27FC236}">
                <a16:creationId xmlns:a16="http://schemas.microsoft.com/office/drawing/2014/main" id="{97C71467-907C-C512-CD23-57773934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724" y="1791093"/>
            <a:ext cx="3870276" cy="3374796"/>
          </a:xfrm>
          <a:prstGeom prst="rect">
            <a:avLst/>
          </a:prstGeom>
        </p:spPr>
      </p:pic>
      <p:pic>
        <p:nvPicPr>
          <p:cNvPr id="11" name="Image 1" descr="docm_unpack/word/media/image3.png">
            <a:extLst>
              <a:ext uri="{FF2B5EF4-FFF2-40B4-BE49-F238E27FC236}">
                <a16:creationId xmlns:a16="http://schemas.microsoft.com/office/drawing/2014/main" id="{E3BA02FE-8A6B-2020-5A12-BE6D5E9BEA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791093"/>
            <a:ext cx="3870276" cy="337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88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4A01-A81C-168D-3260-6A7D2BD1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8C9CD-84DB-7978-4795-4B44E05CC5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Google Shape;235;p17">
            <a:extLst>
              <a:ext uri="{FF2B5EF4-FFF2-40B4-BE49-F238E27FC236}">
                <a16:creationId xmlns:a16="http://schemas.microsoft.com/office/drawing/2014/main" id="{67ACB093-9C1B-3DD8-5DD5-85280A4219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151914" cy="1143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b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600" b="1" dirty="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Table format comparing Existing and Proposed Method Outputs with Graphs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600" b="1" dirty="0">
              <a:solidFill>
                <a:srgbClr val="C00000"/>
              </a:solidFill>
            </a:endParaRPr>
          </a:p>
        </p:txBody>
      </p:sp>
      <p:pic>
        <p:nvPicPr>
          <p:cNvPr id="6" name="Google Shape;238;p17">
            <a:extLst>
              <a:ext uri="{FF2B5EF4-FFF2-40B4-BE49-F238E27FC236}">
                <a16:creationId xmlns:a16="http://schemas.microsoft.com/office/drawing/2014/main" id="{85F508EA-0F7A-FD72-566E-63E1567EFA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6200" y="424543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36;p17">
            <a:extLst>
              <a:ext uri="{FF2B5EF4-FFF2-40B4-BE49-F238E27FC236}">
                <a16:creationId xmlns:a16="http://schemas.microsoft.com/office/drawing/2014/main" id="{2F0264C7-F9E1-CE7C-067F-243645E6E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66180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			Fig. 3 — Per-class precision, recall and F1-score</a:t>
            </a:r>
            <a:endParaRPr lang="en-US" sz="1100" i="1" dirty="0">
              <a:ea typeface="Calibri" pitchFamily="34" charset="-122"/>
              <a:cs typeface="Calibri" pitchFamily="34" charset="-120"/>
            </a:endParaRPr>
          </a:p>
          <a:p>
            <a:pPr marL="114300" indent="0">
              <a:buNone/>
            </a:pPr>
            <a:r>
              <a:rPr lang="en-US" sz="1100" i="1" dirty="0">
                <a:ea typeface="Calibri" pitchFamily="34" charset="-122"/>
                <a:cs typeface="Calibri" pitchFamily="34" charset="-120"/>
              </a:rPr>
              <a:t>         	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                                                                                                </a:t>
            </a:r>
          </a:p>
          <a:p>
            <a:pPr marL="114300" indent="0">
              <a:buNone/>
            </a:pPr>
            <a:endParaRPr lang="en-US" sz="1100" dirty="0"/>
          </a:p>
          <a:p>
            <a:pPr marL="114300" lvl="0" indent="0">
              <a:buNone/>
            </a:pPr>
            <a:r>
              <a:rPr lang="en-US" sz="1100" dirty="0"/>
              <a:t>                                                                                   DEPARTMENT OF CSE PROJECT WORK PHASE-II FINAL REVIEW</a:t>
            </a:r>
          </a:p>
          <a:p>
            <a:pPr marL="114300" indent="0">
              <a:buNone/>
            </a:pPr>
            <a:endParaRPr lang="en-US" sz="1100" dirty="0"/>
          </a:p>
        </p:txBody>
      </p:sp>
      <p:pic>
        <p:nvPicPr>
          <p:cNvPr id="2" name="Image 0" descr="docm_unpack/word/media/image4.png">
            <a:extLst>
              <a:ext uri="{FF2B5EF4-FFF2-40B4-BE49-F238E27FC236}">
                <a16:creationId xmlns:a16="http://schemas.microsoft.com/office/drawing/2014/main" id="{717C024E-A195-D51B-2C1F-09DE61719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65960"/>
            <a:ext cx="777240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78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600" b="1">
              <a:solidFill>
                <a:srgbClr val="C00000"/>
              </a:solidFill>
            </a:endParaRPr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262626"/>
                </a:solidFill>
              </a:rPr>
              <a:t>This project presents a hybrid dual-branch deep learning model for automated brain tumor classification from MRI images, combining </a:t>
            </a:r>
            <a:r>
              <a:rPr lang="en-US" sz="2800" dirty="0" err="1">
                <a:solidFill>
                  <a:srgbClr val="262626"/>
                </a:solidFill>
              </a:rPr>
              <a:t>ConvNeXt</a:t>
            </a:r>
            <a:r>
              <a:rPr lang="en-US" sz="2800" dirty="0">
                <a:solidFill>
                  <a:srgbClr val="262626"/>
                </a:solidFill>
              </a:rPr>
              <a:t>-Base and EfficientNetB4 with a CBAM attention module. Fusing global structural features with fine-grained local details, and refining them with channel and spatial attention, allows the model to focus on the most informative tumor regions. The framework achieved a validation accuracy of 99.75% and an independent test accuracy of 95.58%, with strong precision, recall and F1-scores across all four tumor categories (Glioma, Meningioma, Pituitary Tumor, No Tumor). These results demonstrate the model's robustness and generalization on unseen data, supporting its potential as a reliable computer-aided diagnostic tool to assist clinicians in early brain tumor detection and treatment planning.</a:t>
            </a:r>
            <a:endParaRPr lang="en-US" sz="2800" dirty="0"/>
          </a:p>
        </p:txBody>
      </p:sp>
      <p:sp>
        <p:nvSpPr>
          <p:cNvPr id="255" name="Google Shape;25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56" name="Google Shape;25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>
            <a:spLocks noGrp="1"/>
          </p:cNvSpPr>
          <p:nvPr>
            <p:ph type="ftr" idx="11"/>
          </p:nvPr>
        </p:nvSpPr>
        <p:spPr>
          <a:xfrm>
            <a:off x="2667000" y="640238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 PROJECT WORK PHASE-II FINAL REVIEW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1600" b="1">
              <a:solidFill>
                <a:srgbClr val="C00000"/>
              </a:solidFill>
            </a:endParaRPr>
          </a:p>
        </p:txBody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</a:rPr>
              <a:t>Reduce computational complexity to enable real-time clinical deployment.</a:t>
            </a:r>
            <a:endParaRPr lang="en-US" sz="2200" dirty="0"/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</a:rPr>
              <a:t>Validate the model on larger, multi-center MRI datasets to improve generalizability.</a:t>
            </a:r>
            <a:endParaRPr lang="en-US" sz="2200" dirty="0"/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</a:rPr>
              <a:t>Incorporate Explainable AI (XAI) methods to improve model interpretability and clinician trust.</a:t>
            </a:r>
            <a:endParaRPr lang="en-US" sz="2200" dirty="0"/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</a:rPr>
              <a:t>Extend the framework to brain tumor segmentation, not just classification.</a:t>
            </a:r>
            <a:endParaRPr lang="en-US" sz="2200" dirty="0"/>
          </a:p>
          <a:p>
            <a:pPr marL="342900">
              <a:spcAft>
                <a:spcPts val="1400"/>
              </a:spcAft>
              <a:buSzPct val="100000"/>
            </a:pPr>
            <a:r>
              <a:rPr lang="en-US" sz="2200" dirty="0">
                <a:solidFill>
                  <a:srgbClr val="262626"/>
                </a:solidFill>
              </a:rPr>
              <a:t>Deploy the model in web/mobile healthcare applications for practical clinical use.</a:t>
            </a:r>
            <a:endParaRPr lang="en-US" sz="2200" dirty="0"/>
          </a:p>
        </p:txBody>
      </p:sp>
      <p:sp>
        <p:nvSpPr>
          <p:cNvPr id="264" name="Google Shape;26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>
            <a:spLocks noGrp="1"/>
          </p:cNvSpPr>
          <p:nvPr>
            <p:ph type="ftr" idx="11"/>
          </p:nvPr>
        </p:nvSpPr>
        <p:spPr>
          <a:xfrm>
            <a:off x="2819400" y="640238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 PROJECT WORK PHASE-II FINAL REVIEW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600" b="1">
              <a:solidFill>
                <a:srgbClr val="C00000"/>
              </a:solidFill>
            </a:endParaRPr>
          </a:p>
        </p:txBody>
      </p:sp>
      <p:sp>
        <p:nvSpPr>
          <p:cNvPr id="272" name="Google Shape;272;p21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</p:txBody>
      </p:sp>
      <p:sp>
        <p:nvSpPr>
          <p:cNvPr id="273" name="Google Shape;2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74" name="Google Shape;27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>
            <a:spLocks noGrp="1"/>
          </p:cNvSpPr>
          <p:nvPr>
            <p:ph type="ftr" idx="11"/>
          </p:nvPr>
        </p:nvSpPr>
        <p:spPr>
          <a:xfrm>
            <a:off x="2743200" y="6394514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STATUS OF PAPER PUBLICATION</a:t>
            </a:r>
            <a:endParaRPr sz="1600" b="1">
              <a:solidFill>
                <a:srgbClr val="C00000"/>
              </a:solidFill>
            </a:endParaRPr>
          </a:p>
        </p:txBody>
      </p:sp>
      <p:sp>
        <p:nvSpPr>
          <p:cNvPr id="281" name="Google Shape;281;p22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just">
              <a:spcBef>
                <a:spcPts val="0"/>
              </a:spcBef>
              <a:buSzPts val="2800"/>
              <a:buNone/>
            </a:pPr>
            <a:r>
              <a:rPr lang="en-US" sz="2800" dirty="0"/>
              <a:t>Completed the research paper and have applied for IEEE conferences.</a:t>
            </a:r>
            <a:endParaRPr sz="2800" dirty="0"/>
          </a:p>
          <a:p>
            <a:pPr marL="342900" lvl="0" indent="-1651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</p:txBody>
      </p:sp>
      <p:sp>
        <p:nvSpPr>
          <p:cNvPr id="282" name="Google Shape;28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228600"/>
            <a:ext cx="990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>
            <a:spLocks noGrp="1"/>
          </p:cNvSpPr>
          <p:nvPr>
            <p:ph type="ftr" idx="11"/>
          </p:nvPr>
        </p:nvSpPr>
        <p:spPr>
          <a:xfrm>
            <a:off x="2743200" y="640238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/>
          </a:p>
          <a:p>
            <a:pPr marL="514350" lvl="0" indent="-51435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1"/>
          </a:p>
          <a:p>
            <a:pPr marL="514350" lvl="0" indent="-514350" algn="ctr" rtl="0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/>
          </a:p>
        </p:txBody>
      </p:sp>
      <p:sp>
        <p:nvSpPr>
          <p:cNvPr id="290" name="Google Shape;29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152400"/>
            <a:ext cx="1143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>
            <a:spLocks noGrp="1"/>
          </p:cNvSpPr>
          <p:nvPr>
            <p:ph type="ftr" idx="11"/>
          </p:nvPr>
        </p:nvSpPr>
        <p:spPr>
          <a:xfrm>
            <a:off x="2667000" y="6402388"/>
            <a:ext cx="4495800" cy="22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 PROJECT WORK PHASE-II FINAL REVIEW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1265</Words>
  <Application>Microsoft Office PowerPoint</Application>
  <PresentationFormat>On-screen Show (4:3)</PresentationFormat>
  <Paragraphs>270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    (AUTONOMOUS) Affiliated to JNTUH, Approved by AICTE, Accredited by NAAC with A++ Grade, ISO 9001:2015 Certified  Kacharam, Shamshabad, Hyderabad – 501218, Telangana, India DEPARTMENT OF COMPUTER SCIENCE AND ENGINEERING   </vt:lpstr>
      <vt:lpstr>Project Work Phase-II Review-I Outlines</vt:lpstr>
      <vt:lpstr>Main idea of the Project</vt:lpstr>
      <vt:lpstr>Existing System Vs Proposed </vt:lpstr>
      <vt:lpstr>Proposed Project Objectives</vt:lpstr>
      <vt:lpstr>Proposed Project Outcomes</vt:lpstr>
      <vt:lpstr>Software and Hardware Requirements</vt:lpstr>
      <vt:lpstr>Process Model</vt:lpstr>
      <vt:lpstr>Architectural Diagram</vt:lpstr>
      <vt:lpstr>PROPOSED METHOD AND ALGORITHMS</vt:lpstr>
      <vt:lpstr>RESULTS [Table format comparing Existing and Proposed Method Outputs with Graphs]</vt:lpstr>
      <vt:lpstr>RESULTS [Table format comparing Existing and Proposed Method Outputs with Graphs]</vt:lpstr>
      <vt:lpstr>RESULTS [Table format comparing Existing and Proposed Method Outputs with Graphs]</vt:lpstr>
      <vt:lpstr>CONCLUSION</vt:lpstr>
      <vt:lpstr>FUTURE SCOPE</vt:lpstr>
      <vt:lpstr>REFERENCES</vt:lpstr>
      <vt:lpstr>STATUS OF PAPER PUBLICATION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(AUTONOMOUS) Affiliated to JNTUH, Approved by AICTE, Accredited by NAAC with A++ Grade, ISO 9001:2015 Certified  Kacharam, Shamshabad, Hyderabad – 501218, Telangana, India DEPARTMENT OF COMPUTER SCIENCE AND ENGINEERING</dc:title>
  <dc:creator>Mohammed Saifuddin</dc:creator>
  <cp:lastModifiedBy>rishikesh yadav</cp:lastModifiedBy>
  <cp:revision>26</cp:revision>
  <dcterms:created xsi:type="dcterms:W3CDTF">2006-08-16T00:00:00Z</dcterms:created>
  <dcterms:modified xsi:type="dcterms:W3CDTF">2026-07-30T09:15:45Z</dcterms:modified>
</cp:coreProperties>
</file>